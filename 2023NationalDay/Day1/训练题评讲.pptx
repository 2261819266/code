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1" r:id="rId11"/>
    <p:sldId id="463" r:id="rId12"/>
    <p:sldId id="464" r:id="rId13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8911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EE4CB-7CCA-4F31-A0C7-9B6C8BA279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7716A00-8A68-4DA9-9708-69B7C94143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训练题评讲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念</a:t>
            </a:r>
            <a:r>
              <a:rPr lang="zh-CN" altLang="en-US"/>
              <a:t>东海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长度为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的数组，每个</a:t>
                </a:r>
                <a:r>
                  <a:rPr lang="zh-CN" altLang="en-US"/>
                  <a:t>元素有值域范围限制，对差分数组</a:t>
                </a:r>
                <a:r>
                  <a:rPr lang="zh-CN" altLang="en-US"/>
                  <a:t>计数。</a:t>
                </a:r>
                <a:endParaRPr lang="zh-CN" altLang="en-US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 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𝑙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1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s</a:t>
                </a:r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念</a:t>
            </a:r>
            <a:r>
              <a:rPr lang="zh-CN" altLang="en-US">
                <a:sym typeface="+mn-ea"/>
              </a:rPr>
              <a:t>东海</a:t>
            </a:r>
            <a:endParaRPr lang="zh-CN" altLang="en-US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差分数组相同实际上就是允许整体</a:t>
                </a:r>
                <a:r>
                  <a:rPr lang="zh-CN" altLang="en-US"/>
                  <a:t>平移。</a:t>
                </a:r>
                <a:endParaRPr lang="zh-CN" altLang="en-US"/>
              </a:p>
              <a:p>
                <a:r>
                  <a:rPr lang="zh-CN" altLang="en-US"/>
                  <a:t>注意到如果所有数都没有卡到下界那么可以往下</a:t>
                </a:r>
                <a:r>
                  <a:rPr lang="zh-CN" altLang="en-US"/>
                  <a:t>平移。</a:t>
                </a:r>
                <a:endParaRPr lang="zh-CN" altLang="en-US"/>
              </a:p>
              <a:p>
                <a:r>
                  <a:rPr lang="zh-CN" altLang="en-US"/>
                  <a:t>否则一定不能</a:t>
                </a:r>
                <a:r>
                  <a:rPr lang="zh-CN" altLang="en-US"/>
                  <a:t>往下平移</a:t>
                </a:r>
                <a:r>
                  <a:rPr lang="zh-CN" altLang="en-US"/>
                  <a:t>了。</a:t>
                </a:r>
                <a:endParaRPr lang="zh-CN" altLang="en-US"/>
              </a:p>
              <a:p>
                <a:r>
                  <a:rPr lang="zh-CN" altLang="en-US"/>
                  <a:t>所以直接强制有数卡到下界，</a:t>
                </a:r>
                <a:r>
                  <a:rPr lang="zh-CN" altLang="en-US"/>
                  <a:t>对这个进行</a:t>
                </a:r>
                <a:r>
                  <a:rPr lang="zh-CN" altLang="en-US"/>
                  <a:t>计数。</a:t>
                </a:r>
                <a:endParaRPr lang="zh-CN" altLang="en-US"/>
              </a:p>
              <a:p>
                <a:r>
                  <a:rPr lang="zh-CN" altLang="en-US"/>
                  <a:t>容斥，用所有情况减去没有数卡下界的</a:t>
                </a:r>
                <a:r>
                  <a:rPr lang="zh-CN" altLang="en-US"/>
                  <a:t>情况。</a:t>
                </a:r>
                <a:endParaRPr lang="zh-CN" altLang="en-US"/>
              </a:p>
              <a:p>
                <a:r>
                  <a:rPr lang="zh-CN" altLang="en-US"/>
                  <a:t>答案就是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∏"/>
                        <m:limLoc m:val="undOvr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无不恒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有一个排列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，可以对它循环移位，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每次把第一个元素放到最后一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位。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进行若干次移位操作使得它逆序对数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最大。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要最小化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操作次数。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要支持交换两个元素，每次修改后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都要求解。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s</a:t>
                </a:r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无不恒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考虑进行一次移位会</a:t>
                </a:r>
                <a:r>
                  <a:rPr lang="zh-CN" altLang="en-US"/>
                  <a:t>发生什么。</a:t>
                </a:r>
                <a:endParaRPr lang="zh-CN" altLang="en-US"/>
              </a:p>
              <a:p>
                <a:r>
                  <a:rPr lang="zh-CN" altLang="en-US"/>
                  <a:t>当前第一个数是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，把它移到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末尾。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减少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i="1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个逆序对，增加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个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逆序对。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因此逆序对个数改变量是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那就是要求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全局最大前缀和。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显然线段树维护，单点修改也是简单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可能有点卡常，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std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用的是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zkw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线段树。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念</a:t>
            </a:r>
            <a:r>
              <a:rPr lang="zh-CN" altLang="en-US"/>
              <a:t>江南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构造一个操作序列，第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步把长度为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的前缀或后缀从小到大</a:t>
                </a:r>
                <a:r>
                  <a:rPr lang="zh-CN" altLang="en-US"/>
                  <a:t>排序。</a:t>
                </a:r>
                <a:endParaRPr lang="zh-CN" altLang="en-US"/>
              </a:p>
              <a:p>
                <a:r>
                  <a:rPr lang="zh-CN" altLang="en-US"/>
                  <a:t>用最少的操作序列长度把长度为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的排列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排成</a:t>
                </a:r>
                <a:r>
                  <a:rPr lang="zh-CN" altLang="en-US"/>
                  <a:t>升序。</a:t>
                </a:r>
                <a:endParaRPr lang="zh-CN" altLang="en-US"/>
              </a:p>
              <a:p>
                <a:r>
                  <a:rPr lang="zh-CN" altLang="en-US"/>
                  <a:t>需要输出</a:t>
                </a:r>
                <a:r>
                  <a:rPr lang="zh-CN" altLang="en-US"/>
                  <a:t>方案。</a:t>
                </a:r>
                <a:endParaRPr lang="zh-CN" altLang="en-US"/>
              </a:p>
              <a:p>
                <a:r>
                  <a:rPr lang="zh-CN" altLang="en-US"/>
                  <a:t>五组测试数据，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s</a:t>
                </a:r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念江南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如果有连续两个相同的</a:t>
                </a:r>
                <a:r>
                  <a:rPr lang="en-US" altLang="zh-CN"/>
                  <a:t> P </a:t>
                </a:r>
                <a:r>
                  <a:rPr lang="zh-CN" altLang="en-US"/>
                  <a:t>或者</a:t>
                </a:r>
                <a:r>
                  <a:rPr lang="en-US" altLang="zh-CN"/>
                  <a:t> S</a:t>
                </a:r>
                <a:r>
                  <a:rPr lang="zh-CN" altLang="en-US"/>
                  <a:t>，那前面那个肯定是没有用</a:t>
                </a:r>
                <a:r>
                  <a:rPr lang="zh-CN" altLang="en-US"/>
                  <a:t>的。</a:t>
                </a:r>
                <a:endParaRPr lang="zh-CN" altLang="en-US"/>
              </a:p>
              <a:p>
                <a:r>
                  <a:rPr lang="zh-CN" altLang="en-US"/>
                  <a:t>所以不妨让操作序列相邻操作</a:t>
                </a:r>
                <a:r>
                  <a:rPr lang="zh-CN" altLang="en-US"/>
                  <a:t>不同。</a:t>
                </a:r>
                <a:endParaRPr lang="zh-CN" altLang="en-US"/>
              </a:p>
              <a:p>
                <a:r>
                  <a:rPr lang="zh-CN" altLang="en-US"/>
                  <a:t>因此只有两种可能的操作序列：</a:t>
                </a:r>
                <a:r>
                  <a:rPr lang="en-US" altLang="zh-CN">
                    <a:sym typeface="+mn-ea"/>
                  </a:rPr>
                  <a:t>PSPSPSP... </a:t>
                </a:r>
                <a:r>
                  <a:rPr lang="zh-CN" altLang="en-US"/>
                  <a:t>和</a:t>
                </a:r>
                <a:r>
                  <a:rPr lang="en-US" altLang="zh-CN"/>
                  <a:t> </a:t>
                </a:r>
                <a:r>
                  <a:rPr lang="en-US" altLang="zh-CN">
                    <a:sym typeface="+mn-ea"/>
                  </a:rPr>
                  <a:t>SPSPSPS... </a:t>
                </a:r>
                <a:endParaRPr lang="en-US" altLang="zh-CN"/>
              </a:p>
              <a:p>
                <a:r>
                  <a:rPr lang="zh-CN" altLang="en-US"/>
                  <a:t>两者是对称的，把输入</a:t>
                </a:r>
                <a:r>
                  <a:rPr lang="en-US" altLang="zh-CN"/>
                  <a:t> reverse </a:t>
                </a:r>
                <a:r>
                  <a:rPr lang="zh-CN" altLang="en-US"/>
                  <a:t>一下再让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即可。</a:t>
                </a:r>
                <a:endParaRPr lang="zh-CN" altLang="en-US"/>
              </a:p>
              <a:p>
                <a:r>
                  <a:rPr lang="zh-CN" altLang="en-US"/>
                  <a:t>所以接下来只考虑上述第一种</a:t>
                </a:r>
                <a:r>
                  <a:rPr lang="zh-CN" altLang="en-US"/>
                  <a:t>情况。</a:t>
                </a:r>
                <a:endParaRPr lang="zh-CN" altLang="en-US"/>
              </a:p>
              <a:p>
                <a:endParaRPr lang="zh-CN" altLang="en-US"/>
              </a:p>
              <a:p>
                <a:r>
                  <a:rPr lang="zh-CN" altLang="en-US">
                    <a:sym typeface="+mn-ea"/>
                  </a:rPr>
                  <a:t>每次对一个区间排序其实是一个经典问题，可以线段树分裂维护，做到一个</a:t>
                </a:r>
                <a:r>
                  <a:rPr lang="en-US" altLang="zh-CN">
                    <a:sym typeface="+mn-ea"/>
                  </a:rPr>
                  <a:t> log</a:t>
                </a:r>
                <a:r>
                  <a:rPr lang="zh-CN" altLang="en-US">
                    <a:sym typeface="+mn-ea"/>
                  </a:rPr>
                  <a:t>。</a:t>
                </a:r>
                <a:endParaRPr lang="zh-CN" altLang="en-US">
                  <a:sym typeface="+mn-ea"/>
                </a:endParaRPr>
              </a:p>
              <a:p>
                <a:r>
                  <a:rPr lang="zh-CN" altLang="en-US"/>
                  <a:t>但是这样不太优美，考虑一些</a:t>
                </a:r>
                <a:r>
                  <a:rPr lang="zh-CN" altLang="en-US"/>
                  <a:t>别的</a:t>
                </a:r>
                <a:r>
                  <a:rPr lang="zh-CN" altLang="en-US"/>
                  <a:t>做法。</a:t>
                </a:r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念江南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注意到有很大一部分操作前缀和后缀都是互不影响</a:t>
                </a:r>
                <a:r>
                  <a:rPr lang="zh-CN" altLang="en-US"/>
                  <a:t>的。</a:t>
                </a:r>
                <a:endParaRPr lang="zh-CN" altLang="en-US"/>
              </a:p>
              <a:p>
                <a:r>
                  <a:rPr lang="zh-CN" altLang="en-US"/>
                  <a:t>考虑先对这部分做</a:t>
                </a:r>
                <a:r>
                  <a:rPr lang="zh-CN" altLang="en-US"/>
                  <a:t>特判。</a:t>
                </a:r>
                <a:endParaRPr lang="zh-CN" altLang="en-US"/>
              </a:p>
              <a:p>
                <a:r>
                  <a:rPr lang="zh-CN" altLang="en-US"/>
                  <a:t>即：如果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i="1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次操作后序列已经排好序了，那么答案是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max(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最长未排序前缀，最长未排序后缀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)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因为第一次操作是前缀所以上面那个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max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要做一些奇偶性上的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处理。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因为这个指向性太明显了所以没有给这一档留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部分分。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判完上述部分后，序列会分为两部分，二者都分别排好了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序。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考虑接下来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如何处理。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念</a:t>
            </a:r>
            <a:r>
              <a:rPr lang="zh-CN" altLang="en-US"/>
              <a:t>江南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事实上你注意到，假设当前是第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次操作，那会把另一边长度为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的前</a:t>
                </a:r>
                <a:r>
                  <a:rPr lang="en-US" altLang="zh-CN"/>
                  <a:t>/</a:t>
                </a:r>
                <a:r>
                  <a:rPr lang="zh-CN" altLang="en-US"/>
                  <a:t>后缀</a:t>
                </a:r>
                <a:r>
                  <a:rPr lang="zh-CN" altLang="en-US"/>
                  <a:t>拆出来。</a:t>
                </a:r>
                <a:endParaRPr lang="zh-CN" altLang="en-US"/>
              </a:p>
              <a:p>
                <a:r>
                  <a:rPr lang="zh-CN" altLang="en-US"/>
                  <a:t>那么最多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次整个排列一定被排好序</a:t>
                </a:r>
                <a:r>
                  <a:rPr lang="zh-CN" altLang="en-US"/>
                  <a:t>了。</a:t>
                </a:r>
                <a:endParaRPr lang="zh-CN" altLang="en-US"/>
              </a:p>
              <a:p>
                <a:r>
                  <a:rPr lang="zh-CN" altLang="en-US"/>
                  <a:t>暴力</a:t>
                </a:r>
                <a:r>
                  <a:rPr lang="en-US" altLang="zh-CN"/>
                  <a:t> sort </a:t>
                </a:r>
                <a:r>
                  <a:rPr lang="zh-CN" altLang="en-US"/>
                  <a:t>是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 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log</m:t>
                    </m:r>
                    <m:r>
                      <a:rPr lang="en-US" altLang="zh-CN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 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i="1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的，如果用归并能去掉一个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log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可以拿到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70~80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分的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分数。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正解就比较简单，你其实只关心当前有哪个区间需要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排序。</a:t>
                </a:r>
                <a:endParaRPr lang="zh-CN" altLang="en-US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所以你维护出一个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表示这个区间要排序，定位到两个区间内分别是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] 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和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 [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，然后每次定位好区间暴力找最小</a:t>
                </a:r>
                <a:r>
                  <a:rPr lang="en-US" altLang="zh-CN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/</a:t>
                </a:r>
                <a:r>
                  <a:rPr lang="zh-CN" altLang="en-US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最大值就好</a:t>
                </a:r>
                <a:r>
                  <a:rPr lang="zh-CN" altLang="en-US">
                    <a:latin typeface="Cambria Math" panose="02040503050406030204" pitchFamily="18" charset="0"/>
                    <a:ea typeface="宋体" panose="02010600030101010101" pitchFamily="2" charset="-122"/>
                    <a:cs typeface="Cambria Math" panose="02040503050406030204" pitchFamily="18" charset="0"/>
                  </a:rPr>
                  <a:t>了。</a:t>
                </a:r>
                <a:endParaRPr lang="zh-CN" altLang="en-US"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几星灯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/>
                  <a:t>一个长度为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的序列，每次把两个相邻的数替换为他们的</a:t>
                </a:r>
                <a:r>
                  <a:rPr lang="en-US" altLang="zh-CN"/>
                  <a:t> max+1</a:t>
                </a:r>
                <a:r>
                  <a:rPr lang="zh-CN" altLang="en-US"/>
                  <a:t>，问最后得到的</a:t>
                </a:r>
                <a:r>
                  <a:rPr lang="zh-CN" altLang="en-US"/>
                  <a:t>数的最小值</a:t>
                </a:r>
                <a:r>
                  <a:rPr lang="zh-CN" altLang="en-US"/>
                  <a:t>是多少。</a:t>
                </a:r>
                <a:endParaRPr lang="zh-CN" altLang="en-US"/>
              </a:p>
              <a:p>
                <a:r>
                  <a:rPr lang="zh-CN" altLang="en-US"/>
                  <a:t>求出所有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个区间的答案</a:t>
                </a:r>
                <a:r>
                  <a:rPr lang="zh-CN" altLang="en-US"/>
                  <a:t>和。</a:t>
                </a:r>
                <a:endParaRPr lang="zh-CN" altLang="en-US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2</a:t>
                </a:r>
                <a:r>
                  <a:rPr lang="en-US" altLang="zh-CN">
                    <a:latin typeface="Cambria Math" panose="02040503050406030204" pitchFamily="18" charset="0"/>
                    <a:cs typeface="Cambria Math" panose="02040503050406030204" pitchFamily="18" charset="0"/>
                  </a:rPr>
                  <a:t>s</a:t>
                </a:r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几星灯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p>
                <a:r>
                  <a:rPr lang="zh-CN" altLang="en-US"/>
                  <a:t>先考虑一个区间答案</a:t>
                </a:r>
                <a:r>
                  <a:rPr lang="zh-CN" altLang="en-US"/>
                  <a:t>怎么求。</a:t>
                </a:r>
                <a:endParaRPr lang="zh-CN" altLang="en-US"/>
              </a:p>
              <a:p>
                <a:r>
                  <a:rPr lang="zh-CN" altLang="en-US"/>
                  <a:t>显然可以先把序列缩成若干（设为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/>
                  <a:t>）个最大值（设为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）</a:t>
                </a:r>
                <a:r>
                  <a:rPr lang="zh-CN" altLang="en-US"/>
                  <a:t>，然后答案是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 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zh-CN" altLang="en-US"/>
                  <a:t>。</a:t>
                </a:r>
                <a:endParaRPr lang="zh-CN" altLang="en-US"/>
              </a:p>
              <a:p>
                <a:r>
                  <a:rPr lang="zh-CN" altLang="en-US"/>
                  <a:t>答案和区间最大值有关，因此考虑笛卡尔树上</a:t>
                </a:r>
                <a:r>
                  <a:rPr lang="zh-CN" altLang="en-US"/>
                  <a:t>分治。</a:t>
                </a:r>
                <a:endParaRPr lang="zh-CN" altLang="en-US"/>
              </a:p>
              <a:p>
                <a:r>
                  <a:rPr lang="zh-CN" altLang="en-US"/>
                  <a:t>直接把左子树和右子树都缩成当前最大值，然后枚举比较小的那边算比较大的那边的</a:t>
                </a:r>
                <a:r>
                  <a:rPr lang="zh-CN" altLang="en-US"/>
                  <a:t>答案。</a:t>
                </a:r>
                <a:endParaRPr lang="zh-CN" altLang="en-US"/>
              </a:p>
              <a:p>
                <a:r>
                  <a:rPr lang="zh-CN" altLang="en-US"/>
                  <a:t>每个点最多只会被缩</a:t>
                </a:r>
                <a:r>
                  <a:rPr lang="en-US" altLang="zh-CN"/>
                  <a:t> log </a:t>
                </a:r>
                <a:r>
                  <a:rPr lang="zh-CN" altLang="en-US"/>
                  <a:t>次，所以前半部分是一个</a:t>
                </a:r>
                <a:r>
                  <a:rPr lang="en-US" altLang="zh-CN"/>
                  <a:t> log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r>
                  <a:rPr lang="zh-CN" altLang="en-US">
                    <a:sym typeface="+mn-ea"/>
                  </a:rPr>
                  <a:t>需要有个东西</a:t>
                </a:r>
                <a:r>
                  <a:rPr lang="zh-CN" altLang="en-US">
                    <a:sym typeface="+mn-ea"/>
                  </a:rPr>
                  <a:t>能做启发式合并与求前缀和。拿两个栈拼一块就行。</a:t>
                </a:r>
                <a:endParaRPr lang="zh-CN" altLang="en-US"/>
              </a:p>
              <a:p>
                <a:r>
                  <a:rPr lang="zh-CN" altLang="en-US"/>
                  <a:t>后半部分要枚举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log</m:t>
                    </m:r>
                    <m:r>
                      <a:rPr lang="en-US" altLang="zh-CN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 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是多少，所以是启发式的</a:t>
                </a:r>
                <a:r>
                  <a:rPr lang="zh-CN" altLang="en-US"/>
                  <a:t>复杂度再多一个</a:t>
                </a:r>
                <a:r>
                  <a:rPr lang="en-US" altLang="zh-CN"/>
                  <a:t> log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r>
                  <a:rPr lang="zh-CN" altLang="en-US"/>
                  <a:t>复杂度两个</a:t>
                </a:r>
                <a:r>
                  <a:rPr lang="en-US" altLang="zh-CN"/>
                  <a:t> log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r>
                  <a:rPr lang="zh-CN" altLang="en-US"/>
                  <a:t>数据比较水所以不启发式也能过</a:t>
                </a:r>
                <a:r>
                  <a:rPr lang="zh-CN" altLang="en-US"/>
                  <a:t>其实。</a:t>
                </a:r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r="-1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RhNzdiYWM1MmE1NjM3ZjBkZDMyNTJjZGM1MjkwYjQifQ==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标准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1586</Words>
  <Application>WPS 演示</Application>
  <PresentationFormat>宽屏</PresentationFormat>
  <Paragraphs>89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Wingdings 3</vt:lpstr>
      <vt:lpstr>Arial</vt:lpstr>
      <vt:lpstr>Cambria Math</vt:lpstr>
      <vt:lpstr>MS Mincho</vt:lpstr>
      <vt:lpstr>Segoe Print</vt:lpstr>
      <vt:lpstr>黑体</vt:lpstr>
      <vt:lpstr>Times New Roman</vt:lpstr>
      <vt:lpstr>微软雅黑</vt:lpstr>
      <vt:lpstr>Arial Unicode MS</vt:lpstr>
      <vt:lpstr>Calibri</vt:lpstr>
      <vt:lpstr>丝状</vt:lpstr>
      <vt:lpstr>训练题评讲</vt:lpstr>
      <vt:lpstr>念江南</vt:lpstr>
      <vt:lpstr>念江南</vt:lpstr>
      <vt:lpstr>无不恒</vt:lpstr>
      <vt:lpstr>无不恒</vt:lpstr>
      <vt:lpstr>念江南</vt:lpstr>
      <vt:lpstr>念江南</vt:lpstr>
      <vt:lpstr>念江南</vt:lpstr>
      <vt:lpstr>念江南</vt:lpstr>
      <vt:lpstr>几星灯</vt:lpstr>
      <vt:lpstr>几星灯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训练题评讲</dc:title>
  <dc:creator>568826782@qq.com</dc:creator>
  <cp:lastModifiedBy>think</cp:lastModifiedBy>
  <cp:revision>62</cp:revision>
  <dcterms:created xsi:type="dcterms:W3CDTF">2022-01-25T04:22:00Z</dcterms:created>
  <dcterms:modified xsi:type="dcterms:W3CDTF">2023-10-01T05:49:02Z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33B936A1143842EF81EA12AE179A0F60_13</vt:lpwstr>
  </property>
  <property fmtid="{D5CDD505-2E9C-101B-9397-08002B2CF9AE}" pid="3" name="KSOProductBuildVer">
    <vt:lpwstr>2052-12.1.0.15712</vt:lpwstr>
  </property>
</Properties>
</file>